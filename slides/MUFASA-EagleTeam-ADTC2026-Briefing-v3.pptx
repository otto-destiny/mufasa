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D3E"/>
              </a:solidFill>
              <a:ln w="25400" cap="flat">
                <a:solidFill>
                  <a:srgbClr val="F8FAF9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8A33D"/>
              </a:solidFill>
              <a:ln w="25400" cap="flat">
                <a:solidFill>
                  <a:srgbClr val="F8FAF9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C75B39"/>
              </a:solidFill>
              <a:ln w="25400" cap="flat">
                <a:solidFill>
                  <a:srgbClr val="F8FAF9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Speed</c:v>
                </c:pt>
                <c:pt idx="2">
                  <c:v>Efficiency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C6B6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Peak RAM (GB, est.)</c:v>
                </c:pt>
              </c:strCache>
            </c:strRef>
          </c:tx>
          <c:spPr>
            <a:solidFill>
              <a:srgbClr val="C75B39"/>
            </a:solidFill>
            <a:effectLst/>
          </c:spPr>
          <c:invertIfNegative val="0"/>
          <c:dLbls>
            <c:numFmt formatCode="0.0&quot; GB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C6B6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75B3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89A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4D3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8B @ 4-bit</c:v>
                  </c:pt>
                  <c:pt idx="1">
                    <c:v>4B @ 4-bit</c:v>
                  </c:pt>
                  <c:pt idx="2">
                    <c:v>3B @ 4-bit</c:v>
                  </c:pt>
                  <c:pt idx="3">
                    <c:v>8B @ 1-bit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5.2</c:v>
                </c:pt>
                <c:pt idx="1">
                  <c:v>3.1</c:v>
                </c:pt>
                <c:pt idx="2">
                  <c:v>1.9</c:v>
                </c:pt>
                <c:pt idx="3">
                  <c:v>1.2</c:v>
                </c:pt>
              </c:numCache>
            </c:numRef>
          </c:val>
        </c:ser>
        <c:dLbls>
          <c:numFmt formatCode="0.0&quot; GB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5C6B6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MUFASA is our ADTC 2026 entry. Everything here comes from the challenge brief and our four layer design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domains are offered; we declare Math &amp; Scientific Reasoning, with offline GraphRAG over African scientific evidence as the cross-disciplinary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Half the score is model quality measured on our .gguf alone, with no graph attached. The other half is engineering discipline: speed, memory, heat.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 2 is a 30-minute technical Q&amp;A; Gate 3 is a live defence. Both halves of the system are judged, just differently.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Layers 2 and 3 both branch from Layer 1 because the training datasets and the evidence graph are two products of the same parsing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6,000 are chosen citation-first, 300 per field, with a carry-over pass for fields that cannot supply 300. The wider pool stays available for later phases.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selection is decided on a predeclared scorecard using the total ADTC formula, not scientific quality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 1 graph: 6,000 rights-cleared papers, scaling to 100,000 for Gate 2. Built on LadybugDB - embedded, MIT, extensions bundled for offline use. Sizing to confirm: the retrieval doc estimates roughly 600-900 MB of package at 6,000 papers, against a retrieval budget of under 400 MB RAM - measure before committing.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application decides the retrieval budget, builds and caps the prompt, runs generation with fixed limits, validates, and controls concurrency.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in this deck goes into REPORT.md until it is a measurement from the ADTC profiler on target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828800"/>
            <a:ext cx="3200400" cy="3200400"/>
          </a:xfrm>
          <a:prstGeom prst="ellipse">
            <a:avLst/>
          </a:prstGeom>
          <a:solidFill>
            <a:srgbClr val="0F2A22">
              <a:alpha val="0"/>
            </a:srgbClr>
          </a:solidFill>
          <a:ln w="19050">
            <a:solidFill>
              <a:srgbClr val="1A3B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2194560"/>
            <a:ext cx="2468880" cy="2468880"/>
          </a:xfrm>
          <a:prstGeom prst="ellipse">
            <a:avLst/>
          </a:prstGeom>
          <a:solidFill>
            <a:srgbClr val="0F2A22">
              <a:alpha val="0"/>
            </a:srgbClr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2560320"/>
            <a:ext cx="1737360" cy="1737360"/>
          </a:xfrm>
          <a:prstGeom prst="ellipse">
            <a:avLst/>
          </a:prstGeom>
          <a:solidFill>
            <a:srgbClr val="0F2A22">
              <a:alpha val="0"/>
            </a:srgbClr>
          </a:solidFill>
          <a:ln w="19050">
            <a:solidFill>
              <a:srgbClr val="1A3B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0" y="2926080"/>
            <a:ext cx="1005840" cy="1005840"/>
          </a:xfrm>
          <a:prstGeom prst="ellipse">
            <a:avLst/>
          </a:prstGeom>
          <a:solidFill>
            <a:srgbClr val="0F2A22">
              <a:alpha val="0"/>
            </a:srgbClr>
          </a:solidFill>
          <a:ln w="19050">
            <a:solidFill>
              <a:srgbClr val="1A3B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89720" y="31546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4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DEEP TECH CHALLENGE 2026  ·  THE LAPTOP LLM CHALLENGE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8368" y="1627632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MUFASA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685800" y="276148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i="1" dirty="0">
                <a:solidFill>
                  <a:srgbClr val="CBDD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for Understanding the Frontiers of African Scientific Advancement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85800" y="3474720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1A3B31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3474720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 ·  MATH &amp; SCIENTIFIC REASONING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431596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offline African scientific-reasoning system on an 8 GB laptop.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cloud. No GPU. No API fees.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EagleTeam</a:t>
            </a:r>
            <a:pPr indent="0" marL="0">
              <a:buNone/>
            </a:pPr>
            <a:r>
              <a:rPr lang="en-US" sz="120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Team briefing · 2 August 2026   |   Gate 1 closes 25 August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REQUIREMENT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domain, one integration, one offline machine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6858000" cy="3246120"/>
          </a:xfrm>
          <a:prstGeom prst="roundRect">
            <a:avLst>
              <a:gd name="adj" fmla="val 2535"/>
            </a:avLst>
          </a:prstGeom>
          <a:solidFill>
            <a:srgbClr val="F8FAF9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417320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1 OF 7 PROBLEM DOMAINS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41248" y="1719072"/>
            <a:ext cx="6309360" cy="566928"/>
          </a:xfrm>
          <a:prstGeom prst="roundRect">
            <a:avLst>
              <a:gd name="adj" fmla="val 9677"/>
            </a:avLst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19072"/>
            <a:ext cx="6163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&amp; SCIENTIFIC REASONING   ←   OURS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1248" y="2432304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EFF4F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32304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Medical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87368" y="2432304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EFF4F1"/>
          </a:solidFill>
          <a:ln/>
        </p:spPr>
      </p:sp>
      <p:sp>
        <p:nvSpPr>
          <p:cNvPr id="11" name="Text 9"/>
          <p:cNvSpPr/>
          <p:nvPr/>
        </p:nvSpPr>
        <p:spPr>
          <a:xfrm>
            <a:off x="4160520" y="2432304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248" y="3054096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EFF4F1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054096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Writing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87368" y="3054096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EFF4F1"/>
          </a:solidFill>
          <a:ln/>
        </p:spPr>
      </p:sp>
      <p:sp>
        <p:nvSpPr>
          <p:cNvPr id="15" name="Text 13"/>
          <p:cNvSpPr/>
          <p:nvPr/>
        </p:nvSpPr>
        <p:spPr>
          <a:xfrm>
            <a:off x="4160520" y="3054096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Assistants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1248" y="3675888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EFF4F1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675888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/ Enterprise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87368" y="3675888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EFF4F1"/>
          </a:solidFill>
          <a:ln/>
        </p:spPr>
      </p:sp>
      <p:sp>
        <p:nvSpPr>
          <p:cNvPr id="19" name="Text 17"/>
          <p:cNvSpPr/>
          <p:nvPr/>
        </p:nvSpPr>
        <p:spPr>
          <a:xfrm>
            <a:off x="4160520" y="3675888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Agents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" y="411480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solving, proof assistance and quantitative reasoning — the challenge's own words for our track.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80960" y="1234440"/>
            <a:ext cx="3950208" cy="3246120"/>
          </a:xfrm>
          <a:prstGeom prst="roundRect">
            <a:avLst>
              <a:gd name="adj" fmla="val 2535"/>
            </a:avLst>
          </a:prstGeom>
          <a:solidFill>
            <a:srgbClr val="0F2A22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4173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LOAD-BEARING INTEGRATION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55280" y="1755648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1A3B31"/>
          </a:solidFill>
          <a:ln/>
        </p:spPr>
      </p:sp>
      <p:sp>
        <p:nvSpPr>
          <p:cNvPr id="24" name="Text 22"/>
          <p:cNvSpPr/>
          <p:nvPr/>
        </p:nvSpPr>
        <p:spPr>
          <a:xfrm>
            <a:off x="8028432" y="1755648"/>
            <a:ext cx="1545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corpus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765792" y="18288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150k+ papers, rights-checked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686800" y="2286000"/>
            <a:ext cx="219456" cy="128016"/>
          </a:xfrm>
          <a:prstGeom prst="downArrow">
            <a:avLst/>
          </a:prstGeom>
          <a:solidFill>
            <a:srgbClr val="E8A33D"/>
          </a:solidFill>
          <a:ln/>
        </p:spPr>
      </p:sp>
      <p:sp>
        <p:nvSpPr>
          <p:cNvPr id="27" name="Shape 25"/>
          <p:cNvSpPr/>
          <p:nvPr/>
        </p:nvSpPr>
        <p:spPr>
          <a:xfrm>
            <a:off x="7955280" y="2414016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1A3B31"/>
          </a:solidFill>
          <a:ln/>
        </p:spPr>
      </p:sp>
      <p:sp>
        <p:nvSpPr>
          <p:cNvPr id="28" name="Text 26"/>
          <p:cNvSpPr/>
          <p:nvPr/>
        </p:nvSpPr>
        <p:spPr>
          <a:xfrm>
            <a:off x="8028432" y="2414016"/>
            <a:ext cx="1545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765792" y="24871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graph, offline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686800" y="2944368"/>
            <a:ext cx="219456" cy="128016"/>
          </a:xfrm>
          <a:prstGeom prst="downArrow">
            <a:avLst/>
          </a:prstGeom>
          <a:solidFill>
            <a:srgbClr val="E8A33D"/>
          </a:solidFill>
          <a:ln/>
        </p:spPr>
      </p:sp>
      <p:sp>
        <p:nvSpPr>
          <p:cNvPr id="31" name="Shape 29"/>
          <p:cNvSpPr/>
          <p:nvPr/>
        </p:nvSpPr>
        <p:spPr>
          <a:xfrm>
            <a:off x="7955280" y="3072384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1A3B31"/>
          </a:solidFill>
          <a:ln/>
        </p:spPr>
      </p:sp>
      <p:sp>
        <p:nvSpPr>
          <p:cNvPr id="32" name="Text 30"/>
          <p:cNvSpPr/>
          <p:nvPr/>
        </p:nvSpPr>
        <p:spPr>
          <a:xfrm>
            <a:off x="8028432" y="3072384"/>
            <a:ext cx="1545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MUFASA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765792" y="314553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3B-class, llama.cpp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686800" y="3602736"/>
            <a:ext cx="219456" cy="128016"/>
          </a:xfrm>
          <a:prstGeom prst="downArrow">
            <a:avLst/>
          </a:prstGeom>
          <a:solidFill>
            <a:srgbClr val="E8A33D"/>
          </a:solidFill>
          <a:ln/>
        </p:spPr>
      </p:sp>
      <p:sp>
        <p:nvSpPr>
          <p:cNvPr id="35" name="Shape 33"/>
          <p:cNvSpPr/>
          <p:nvPr/>
        </p:nvSpPr>
        <p:spPr>
          <a:xfrm>
            <a:off x="7955280" y="3730752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E8A33D"/>
          </a:solidFill>
          <a:ln/>
        </p:spPr>
      </p:sp>
      <p:sp>
        <p:nvSpPr>
          <p:cNvPr id="36" name="Text 34"/>
          <p:cNvSpPr/>
          <p:nvPr/>
        </p:nvSpPr>
        <p:spPr>
          <a:xfrm>
            <a:off x="8028432" y="3730752"/>
            <a:ext cx="1545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765792" y="380390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+ page + coverage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6928" y="47091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EFF4F1"/>
          </a:solidFill>
          <a:ln/>
        </p:spPr>
      </p:sp>
      <p:sp>
        <p:nvSpPr>
          <p:cNvPr id="39" name="Text 37"/>
          <p:cNvSpPr/>
          <p:nvPr/>
        </p:nvSpPr>
        <p:spPr>
          <a:xfrm>
            <a:off x="566928" y="48280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GB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704088" y="52852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ADTC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laptop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419856" y="47091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EFF4F1"/>
          </a:solidFill>
          <a:ln/>
        </p:spPr>
      </p:sp>
      <p:sp>
        <p:nvSpPr>
          <p:cNvPr id="42" name="Text 40"/>
          <p:cNvSpPr/>
          <p:nvPr/>
        </p:nvSpPr>
        <p:spPr>
          <a:xfrm>
            <a:off x="3419856" y="48280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3557016" y="52852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calls during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72784" y="47091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EFF4F1"/>
          </a:solidFill>
          <a:ln/>
        </p:spPr>
      </p:sp>
      <p:sp>
        <p:nvSpPr>
          <p:cNvPr id="45" name="Text 43"/>
          <p:cNvSpPr/>
          <p:nvPr/>
        </p:nvSpPr>
        <p:spPr>
          <a:xfrm>
            <a:off x="6272784" y="48280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Aug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6409944" y="52852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repo, REPORT.md,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2-min video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125712" y="47091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EFF4F1"/>
          </a:solidFill>
          <a:ln/>
        </p:spPr>
      </p:sp>
      <p:sp>
        <p:nvSpPr>
          <p:cNvPr id="48" name="Text 46"/>
          <p:cNvSpPr/>
          <p:nvPr/>
        </p:nvSpPr>
        <p:spPr>
          <a:xfrm>
            <a:off x="9125712" y="48280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+15%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9262872" y="52852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African-language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on panel score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ENVELOPE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disqualifies us, and where the points sit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0F2A22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2984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GB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77393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ceiling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20208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it, or a crash → 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19856" y="1188720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EFF4F1"/>
          </a:solidFill>
          <a:ln/>
        </p:spPr>
      </p:sp>
      <p:sp>
        <p:nvSpPr>
          <p:cNvPr id="9" name="Text 7"/>
          <p:cNvSpPr/>
          <p:nvPr/>
        </p:nvSpPr>
        <p:spPr>
          <a:xfrm>
            <a:off x="3419856" y="12984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B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GGUF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419856" y="177393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only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511296" y="20208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run our file locally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72784" y="1188720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EFF4F1"/>
          </a:solidFill>
          <a:ln/>
        </p:spPr>
      </p:sp>
      <p:sp>
        <p:nvSpPr>
          <p:cNvPr id="13" name="Text 11"/>
          <p:cNvSpPr/>
          <p:nvPr/>
        </p:nvSpPr>
        <p:spPr>
          <a:xfrm>
            <a:off x="6272784" y="12984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B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272784" y="177393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calls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64224" y="20208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 in testing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25712" y="1188720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EFF4F1"/>
          </a:solidFill>
          <a:ln/>
        </p:spPr>
      </p:sp>
      <p:sp>
        <p:nvSpPr>
          <p:cNvPr id="17" name="Text 15"/>
          <p:cNvSpPr/>
          <p:nvPr/>
        </p:nvSpPr>
        <p:spPr>
          <a:xfrm>
            <a:off x="9125712" y="12984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B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−10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125712" y="177393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penalty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217152" y="20208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85 °C or throttling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2651760"/>
            <a:ext cx="5394960" cy="3520440"/>
          </a:xfrm>
          <a:prstGeom prst="roundRect">
            <a:avLst>
              <a:gd name="adj" fmla="val 2338"/>
            </a:avLst>
          </a:prstGeom>
          <a:solidFill>
            <a:srgbClr val="F8FAF9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281635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0.50 ACC + 0.30 SPEED + 0.20 EFFICIENCY − THERMAL</a:t>
            </a:r>
            <a:endParaRPr lang="en-US" sz="10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685800" y="3108960"/>
          <a:ext cx="51206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6236208" y="2651760"/>
            <a:ext cx="5394960" cy="3520440"/>
          </a:xfrm>
          <a:prstGeom prst="roundRect">
            <a:avLst>
              <a:gd name="adj" fmla="val 2338"/>
            </a:avLst>
          </a:prstGeom>
          <a:solidFill>
            <a:srgbClr val="0F2A22"/>
          </a:solidFill>
          <a:ln/>
        </p:spPr>
      </p:sp>
      <p:sp>
        <p:nvSpPr>
          <p:cNvPr id="24" name="Text 21"/>
          <p:cNvSpPr/>
          <p:nvPr/>
        </p:nvSpPr>
        <p:spPr>
          <a:xfrm>
            <a:off x="6510528" y="281635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UNUSED MEGABYTE IS MARKS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510528" y="30906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= 100 × (7 GB − peak RAM) ÷ 7 GB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510528" y="3520440"/>
            <a:ext cx="4846320" cy="685800"/>
          </a:xfrm>
          <a:prstGeom prst="roundRect">
            <a:avLst>
              <a:gd name="adj" fmla="val 6667"/>
            </a:avLst>
          </a:prstGeom>
          <a:solidFill>
            <a:srgbClr val="1A3B31"/>
          </a:solidFill>
          <a:ln/>
        </p:spPr>
      </p:sp>
      <p:sp>
        <p:nvSpPr>
          <p:cNvPr id="27" name="Shape 24"/>
          <p:cNvSpPr/>
          <p:nvPr/>
        </p:nvSpPr>
        <p:spPr>
          <a:xfrm>
            <a:off x="6510528" y="3520440"/>
            <a:ext cx="830798" cy="6858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8" name="Shape 25"/>
          <p:cNvSpPr/>
          <p:nvPr/>
        </p:nvSpPr>
        <p:spPr>
          <a:xfrm>
            <a:off x="7341326" y="3520440"/>
            <a:ext cx="276933" cy="6858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29" name="Shape 26"/>
          <p:cNvSpPr/>
          <p:nvPr/>
        </p:nvSpPr>
        <p:spPr>
          <a:xfrm>
            <a:off x="7618258" y="3520440"/>
            <a:ext cx="346166" cy="685800"/>
          </a:xfrm>
          <a:prstGeom prst="rect">
            <a:avLst/>
          </a:prstGeom>
          <a:solidFill>
            <a:srgbClr val="6E8F7E"/>
          </a:solidFill>
          <a:ln/>
        </p:spPr>
      </p:sp>
      <p:sp>
        <p:nvSpPr>
          <p:cNvPr id="30" name="Text 27"/>
          <p:cNvSpPr/>
          <p:nvPr/>
        </p:nvSpPr>
        <p:spPr>
          <a:xfrm>
            <a:off x="8055864" y="3721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4.9 GB headroom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419088" y="42519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10259568" y="42519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GB ceiling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510528" y="452628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4" name="Text 31"/>
          <p:cNvSpPr/>
          <p:nvPr/>
        </p:nvSpPr>
        <p:spPr>
          <a:xfrm>
            <a:off x="6711696" y="44805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~1.2 GB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8138160" y="4526280"/>
            <a:ext cx="137160" cy="137160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36" name="Text 33"/>
          <p:cNvSpPr/>
          <p:nvPr/>
        </p:nvSpPr>
        <p:spPr>
          <a:xfrm>
            <a:off x="8339328" y="44805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&lt;0.4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9765792" y="4526280"/>
            <a:ext cx="137160" cy="137160"/>
          </a:xfrm>
          <a:prstGeom prst="ellipse">
            <a:avLst/>
          </a:prstGeom>
          <a:solidFill>
            <a:srgbClr val="6E8F7E"/>
          </a:solidFill>
          <a:ln/>
        </p:spPr>
      </p:sp>
      <p:sp>
        <p:nvSpPr>
          <p:cNvPr id="38" name="Text 35"/>
          <p:cNvSpPr/>
          <p:nvPr/>
        </p:nvSpPr>
        <p:spPr>
          <a:xfrm>
            <a:off x="9966960" y="44805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~0.5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510528" y="4937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8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allocation, not yet measured. Every figure here is replaced by an ADTC profiler run before it reaches REPORT.md.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510528" y="548640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Multipliers 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 African language   ·   +10% budget profile   ·   Speed is scored against the fastest team, not an absolute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gates. No proposal-only stage.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2148840"/>
            <a:ext cx="10424160" cy="0"/>
          </a:xfrm>
          <a:prstGeom prst="line">
            <a:avLst/>
          </a:prstGeom>
          <a:noFill/>
          <a:ln w="38100">
            <a:solidFill>
              <a:srgbClr val="DCE6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Aug 2026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130552" y="1947672"/>
            <a:ext cx="402336" cy="402336"/>
          </a:xfrm>
          <a:prstGeom prst="ellipse">
            <a:avLst/>
          </a:prstGeom>
          <a:solidFill>
            <a:srgbClr val="E8A33D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606040"/>
            <a:ext cx="3291840" cy="2560320"/>
          </a:xfrm>
          <a:prstGeom prst="roundRect">
            <a:avLst>
              <a:gd name="adj" fmla="val 3214"/>
            </a:avLst>
          </a:prstGeom>
          <a:solidFill>
            <a:srgbClr val="0F2A2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88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1 — Submission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40156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repo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REPORT.md: constraints, design, benchmarks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+ 2-minute video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claims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8056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8–29 Sep 2026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25312" y="1947672"/>
            <a:ext cx="402336" cy="402336"/>
          </a:xfrm>
          <a:prstGeom prst="ellipse">
            <a:avLst/>
          </a:prstGeom>
          <a:solidFill>
            <a:srgbClr val="1B4D3E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2606040"/>
            <a:ext cx="3291840" cy="2560320"/>
          </a:xfrm>
          <a:prstGeom prst="roundRect">
            <a:avLst>
              <a:gd name="adj" fmla="val 3214"/>
            </a:avLst>
          </a:prstGeom>
          <a:solidFill>
            <a:srgbClr val="F8FAF9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788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2 — Audit &amp; Q&amp;A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340156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technical Q&amp;A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audit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clarifications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updated benchmarks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7532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Oct 2026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720072" y="1947672"/>
            <a:ext cx="402336" cy="402336"/>
          </a:xfrm>
          <a:prstGeom prst="ellipse">
            <a:avLst/>
          </a:prstGeom>
          <a:solidFill>
            <a:srgbClr val="C75B39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2606040"/>
            <a:ext cx="3291840" cy="2560320"/>
          </a:xfrm>
          <a:prstGeom prst="roundRect">
            <a:avLst>
              <a:gd name="adj" fmla="val 3214"/>
            </a:avLst>
          </a:prstGeom>
          <a:solidFill>
            <a:srgbClr val="F8FAF9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2788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3 — Final defence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49640" y="340156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deck, max 10 slides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session attendance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verification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announced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rot="10800000">
            <a:off x="758952" y="1874520"/>
            <a:ext cx="310896" cy="256032"/>
          </a:xfrm>
          <a:prstGeom prst="triangle">
            <a:avLst/>
          </a:prstGeom>
          <a:solidFill>
            <a:srgbClr val="C75B39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16002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557784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0F2A22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5778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days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to Gate 1.  The profiler scores our .gguf alone — but Gates 2 and 3 interrogate the graph and the app directly.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 across two planes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11064240" cy="2423160"/>
          </a:xfrm>
          <a:prstGeom prst="roundRect">
            <a:avLst>
              <a:gd name="adj" fmla="val 3396"/>
            </a:avLst>
          </a:prstGeom>
          <a:solidFill>
            <a:srgbClr val="F8FAF9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984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PLANE · OUR MACHINES · INTERNET ALLOWED · RUN ONCE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2743200" cy="1783080"/>
          </a:xfrm>
          <a:prstGeom prst="roundRect">
            <a:avLst>
              <a:gd name="adj" fmla="val 4615"/>
            </a:avLst>
          </a:prstGeom>
          <a:solidFill>
            <a:srgbClr val="EFF4F1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792224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81328" y="181051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5840" y="2249424"/>
            <a:ext cx="24140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papers found, rights-checked, parsed. Every measurement keeps its page and quoted span.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03320" y="2395728"/>
            <a:ext cx="384048" cy="237744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2" name="Shape 10"/>
          <p:cNvSpPr/>
          <p:nvPr/>
        </p:nvSpPr>
        <p:spPr>
          <a:xfrm>
            <a:off x="4224528" y="1600200"/>
            <a:ext cx="2743200" cy="868680"/>
          </a:xfrm>
          <a:prstGeom prst="roundRect">
            <a:avLst>
              <a:gd name="adj" fmla="val 9474"/>
            </a:avLst>
          </a:prstGeom>
          <a:solidFill>
            <a:srgbClr val="EFF4F1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9120" y="176479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17830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389120" y="2221992"/>
            <a:ext cx="2414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→ DPO → GGUF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24528" y="2560320"/>
            <a:ext cx="2743200" cy="868680"/>
          </a:xfrm>
          <a:prstGeom prst="roundRect">
            <a:avLst>
              <a:gd name="adj" fmla="val 9474"/>
            </a:avLst>
          </a:prstGeom>
          <a:solidFill>
            <a:srgbClr val="EFF4F1"/>
          </a:solidFill>
          <a:ln/>
        </p:spPr>
      </p:sp>
      <p:sp>
        <p:nvSpPr>
          <p:cNvPr id="18" name="Shape 16"/>
          <p:cNvSpPr/>
          <p:nvPr/>
        </p:nvSpPr>
        <p:spPr>
          <a:xfrm>
            <a:off x="4389120" y="272491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4608" y="27432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389120" y="3182112"/>
            <a:ext cx="2414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+ indexes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86600" y="2395728"/>
            <a:ext cx="384048" cy="237744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3" name="Shape 21"/>
          <p:cNvSpPr/>
          <p:nvPr/>
        </p:nvSpPr>
        <p:spPr>
          <a:xfrm>
            <a:off x="7607808" y="1627632"/>
            <a:ext cx="3749040" cy="1783080"/>
          </a:xfrm>
          <a:prstGeom prst="roundRect">
            <a:avLst>
              <a:gd name="adj" fmla="val 4615"/>
            </a:avLst>
          </a:prstGeom>
          <a:solidFill>
            <a:srgbClr val="0F2A22"/>
          </a:solidFill>
          <a:ln/>
        </p:spPr>
      </p:sp>
      <p:sp>
        <p:nvSpPr>
          <p:cNvPr id="24" name="Text 22"/>
          <p:cNvSpPr/>
          <p:nvPr/>
        </p:nvSpPr>
        <p:spPr>
          <a:xfrm>
            <a:off x="7818120" y="1810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OFFLINE PACKAGE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18120" y="21488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mufasa.gguf  ·  pinned llama.cpp settings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mufasa-graph + bundled extensions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MANIFEST.sha256  ·  no PDFs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3794760"/>
            <a:ext cx="11064240" cy="2286000"/>
          </a:xfrm>
          <a:prstGeom prst="roundRect">
            <a:avLst>
              <a:gd name="adj" fmla="val 3600"/>
            </a:avLst>
          </a:prstGeom>
          <a:solidFill>
            <a:srgbClr val="0F2A22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90448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PLANE · ONE LAPTOP · MILLISECONDS · NO INTERNET · 7 GB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41248" y="4224528"/>
            <a:ext cx="2743200" cy="1600200"/>
          </a:xfrm>
          <a:prstGeom prst="roundRect">
            <a:avLst>
              <a:gd name="adj" fmla="val 5143"/>
            </a:avLst>
          </a:prstGeom>
          <a:solidFill>
            <a:srgbClr val="0F2A22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5840" y="43891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81328" y="440740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005840" y="4846320"/>
            <a:ext cx="2414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Tauri desktop plus a paired phone. It owns the prompt, the limits and the memory.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977640" y="4709160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1A3B31"/>
          </a:solidFill>
          <a:ln/>
        </p:spPr>
      </p:sp>
      <p:sp>
        <p:nvSpPr>
          <p:cNvPr id="34" name="Text 32"/>
          <p:cNvSpPr/>
          <p:nvPr/>
        </p:nvSpPr>
        <p:spPr>
          <a:xfrm>
            <a:off x="4050792" y="4709160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76672" y="4892040"/>
            <a:ext cx="91440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36" name="Shape 34"/>
          <p:cNvSpPr/>
          <p:nvPr/>
        </p:nvSpPr>
        <p:spPr>
          <a:xfrm>
            <a:off x="5495544" y="4709160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1A3B31"/>
          </a:solidFill>
          <a:ln/>
        </p:spPr>
      </p:sp>
      <p:sp>
        <p:nvSpPr>
          <p:cNvPr id="37" name="Text 35"/>
          <p:cNvSpPr/>
          <p:nvPr/>
        </p:nvSpPr>
        <p:spPr>
          <a:xfrm>
            <a:off x="5568696" y="4709160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894576" y="4892040"/>
            <a:ext cx="91440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39" name="Shape 37"/>
          <p:cNvSpPr/>
          <p:nvPr/>
        </p:nvSpPr>
        <p:spPr>
          <a:xfrm>
            <a:off x="7013448" y="4709160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1A3B31"/>
          </a:solidFill>
          <a:ln/>
        </p:spPr>
      </p:sp>
      <p:sp>
        <p:nvSpPr>
          <p:cNvPr id="40" name="Text 38"/>
          <p:cNvSpPr/>
          <p:nvPr/>
        </p:nvSpPr>
        <p:spPr>
          <a:xfrm>
            <a:off x="7086600" y="4709160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412480" y="4892040"/>
            <a:ext cx="91440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42" name="Shape 40"/>
          <p:cNvSpPr/>
          <p:nvPr/>
        </p:nvSpPr>
        <p:spPr>
          <a:xfrm>
            <a:off x="8531352" y="4709160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1A3B31"/>
          </a:solidFill>
          <a:ln/>
        </p:spPr>
      </p:sp>
      <p:sp>
        <p:nvSpPr>
          <p:cNvPr id="43" name="Text 41"/>
          <p:cNvSpPr/>
          <p:nvPr/>
        </p:nvSpPr>
        <p:spPr>
          <a:xfrm>
            <a:off x="8604504" y="4709160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930384" y="4892040"/>
            <a:ext cx="91440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45" name="Shape 43"/>
          <p:cNvSpPr/>
          <p:nvPr/>
        </p:nvSpPr>
        <p:spPr>
          <a:xfrm>
            <a:off x="10049256" y="4709160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E8A33D"/>
          </a:solidFill>
          <a:ln/>
        </p:spPr>
      </p:sp>
      <p:sp>
        <p:nvSpPr>
          <p:cNvPr id="46" name="Text 44"/>
          <p:cNvSpPr/>
          <p:nvPr/>
        </p:nvSpPr>
        <p:spPr>
          <a:xfrm>
            <a:off x="10122408" y="4709160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citation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977640" y="54406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6–10 evidence records, one hop, validated before anything reaches the screen.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66928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that settles design arguments: anything needing the internet, a frontier model or serious memory lives above the line.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01 · DATA ENGINEERING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else is bringing this corpus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5760720" cy="4983480"/>
          </a:xfrm>
          <a:prstGeom prst="roundRect">
            <a:avLst>
              <a:gd name="adj" fmla="val 1651"/>
            </a:avLst>
          </a:prstGeom>
          <a:solidFill>
            <a:srgbClr val="0F2A22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371600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POOL TO THE GRAPH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41248" y="1719072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71907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150,000+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41248" y="243230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Africa-relevant candidates indexed, 20 fields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35608" y="2816352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D89A45"/>
          </a:solidFill>
          <a:ln/>
        </p:spPr>
      </p:sp>
      <p:sp>
        <p:nvSpPr>
          <p:cNvPr id="10" name="Text 8"/>
          <p:cNvSpPr/>
          <p:nvPr/>
        </p:nvSpPr>
        <p:spPr>
          <a:xfrm>
            <a:off x="1435608" y="281635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41248" y="352958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targeted for the Gate 2 graph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29968" y="3913632"/>
            <a:ext cx="2834640" cy="658368"/>
          </a:xfrm>
          <a:prstGeom prst="roundRect">
            <a:avLst>
              <a:gd name="adj" fmla="val 8333"/>
            </a:avLst>
          </a:prstGeom>
          <a:solidFill>
            <a:srgbClr val="C75B39"/>
          </a:solidFill>
          <a:ln/>
        </p:spPr>
      </p:sp>
      <p:sp>
        <p:nvSpPr>
          <p:cNvPr id="13" name="Text 11"/>
          <p:cNvSpPr/>
          <p:nvPr/>
        </p:nvSpPr>
        <p:spPr>
          <a:xfrm>
            <a:off x="2029968" y="391363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6,000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41248" y="462686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in the Gate 1 graph — 300 per field, citation-first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" y="5029200"/>
            <a:ext cx="2514600" cy="960120"/>
          </a:xfrm>
          <a:prstGeom prst="roundRect">
            <a:avLst>
              <a:gd name="adj" fmla="val 8571"/>
            </a:avLst>
          </a:prstGeom>
          <a:solidFill>
            <a:srgbClr val="1A3B31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51206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2,000,000+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32688" y="55046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units at full extraction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38728" y="5029200"/>
            <a:ext cx="2514600" cy="960120"/>
          </a:xfrm>
          <a:prstGeom prst="roundRect">
            <a:avLst>
              <a:gd name="adj" fmla="val 8571"/>
            </a:avLst>
          </a:prstGeom>
          <a:solidFill>
            <a:srgbClr val="1A3B31"/>
          </a:solidFill>
          <a:ln/>
        </p:spPr>
      </p:sp>
      <p:sp>
        <p:nvSpPr>
          <p:cNvPr id="19" name="Text 17"/>
          <p:cNvSpPr/>
          <p:nvPr/>
        </p:nvSpPr>
        <p:spPr>
          <a:xfrm>
            <a:off x="3538728" y="51206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100,000+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630168" y="55046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units in the Phase 1 build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83680" y="1188720"/>
            <a:ext cx="5047488" cy="2926080"/>
          </a:xfrm>
          <a:prstGeom prst="roundRect">
            <a:avLst>
              <a:gd name="adj" fmla="val 2813"/>
            </a:avLst>
          </a:prstGeom>
          <a:solidFill>
            <a:srgbClr val="F8FAF9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133502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IS SCORED, NOT ASSERTED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16642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centrality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869680" y="1691640"/>
            <a:ext cx="310896" cy="182880"/>
          </a:xfrm>
          <a:prstGeom prst="roundRect">
            <a:avLst>
              <a:gd name="adj" fmla="val 15000"/>
            </a:avLst>
          </a:prstGeom>
          <a:solidFill>
            <a:srgbClr val="1B4D3E"/>
          </a:solidFill>
          <a:ln/>
        </p:spPr>
      </p:sp>
      <p:sp>
        <p:nvSpPr>
          <p:cNvPr id="25" name="Shape 23"/>
          <p:cNvSpPr/>
          <p:nvPr/>
        </p:nvSpPr>
        <p:spPr>
          <a:xfrm>
            <a:off x="9253728" y="1691640"/>
            <a:ext cx="310896" cy="182880"/>
          </a:xfrm>
          <a:prstGeom prst="roundRect">
            <a:avLst>
              <a:gd name="adj" fmla="val 15000"/>
            </a:avLst>
          </a:prstGeom>
          <a:solidFill>
            <a:srgbClr val="1B4D3E"/>
          </a:solidFill>
          <a:ln/>
        </p:spPr>
      </p:sp>
      <p:sp>
        <p:nvSpPr>
          <p:cNvPr id="26" name="Shape 24"/>
          <p:cNvSpPr/>
          <p:nvPr/>
        </p:nvSpPr>
        <p:spPr>
          <a:xfrm>
            <a:off x="9637776" y="1691640"/>
            <a:ext cx="310896" cy="182880"/>
          </a:xfrm>
          <a:prstGeom prst="roundRect">
            <a:avLst>
              <a:gd name="adj" fmla="val 15000"/>
            </a:avLst>
          </a:prstGeom>
          <a:solidFill>
            <a:srgbClr val="1B4D3E"/>
          </a:solidFill>
          <a:ln/>
        </p:spPr>
      </p:sp>
      <p:sp>
        <p:nvSpPr>
          <p:cNvPr id="27" name="Shape 25"/>
          <p:cNvSpPr/>
          <p:nvPr/>
        </p:nvSpPr>
        <p:spPr>
          <a:xfrm>
            <a:off x="10021824" y="1691640"/>
            <a:ext cx="310896" cy="182880"/>
          </a:xfrm>
          <a:prstGeom prst="roundRect">
            <a:avLst>
              <a:gd name="adj" fmla="val 15000"/>
            </a:avLst>
          </a:prstGeom>
          <a:solidFill>
            <a:srgbClr val="1B4D3E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20116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specificity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869680" y="2039112"/>
            <a:ext cx="310896" cy="182880"/>
          </a:xfrm>
          <a:prstGeom prst="roundRect">
            <a:avLst>
              <a:gd name="adj" fmla="val 15000"/>
            </a:avLst>
          </a:prstGeom>
          <a:solidFill>
            <a:srgbClr val="1B4D3E"/>
          </a:solidFill>
          <a:ln/>
        </p:spPr>
      </p:sp>
      <p:sp>
        <p:nvSpPr>
          <p:cNvPr id="30" name="Shape 28"/>
          <p:cNvSpPr/>
          <p:nvPr/>
        </p:nvSpPr>
        <p:spPr>
          <a:xfrm>
            <a:off x="9253728" y="2039112"/>
            <a:ext cx="310896" cy="182880"/>
          </a:xfrm>
          <a:prstGeom prst="roundRect">
            <a:avLst>
              <a:gd name="adj" fmla="val 15000"/>
            </a:avLst>
          </a:prstGeom>
          <a:solidFill>
            <a:srgbClr val="1B4D3E"/>
          </a:solidFill>
          <a:ln/>
        </p:spPr>
      </p:sp>
      <p:sp>
        <p:nvSpPr>
          <p:cNvPr id="31" name="Shape 29"/>
          <p:cNvSpPr/>
          <p:nvPr/>
        </p:nvSpPr>
        <p:spPr>
          <a:xfrm>
            <a:off x="9637776" y="2039112"/>
            <a:ext cx="310896" cy="182880"/>
          </a:xfrm>
          <a:prstGeom prst="roundRect">
            <a:avLst>
              <a:gd name="adj" fmla="val 15000"/>
            </a:avLst>
          </a:prstGeom>
          <a:solidFill>
            <a:srgbClr val="1B4D3E"/>
          </a:solidFill>
          <a:ln/>
        </p:spPr>
      </p:sp>
      <p:sp>
        <p:nvSpPr>
          <p:cNvPr id="32" name="Shape 30"/>
          <p:cNvSpPr/>
          <p:nvPr/>
        </p:nvSpPr>
        <p:spPr>
          <a:xfrm>
            <a:off x="10021824" y="2039112"/>
            <a:ext cx="310896" cy="182880"/>
          </a:xfrm>
          <a:prstGeom prst="roundRect">
            <a:avLst>
              <a:gd name="adj" fmla="val 15000"/>
            </a:avLst>
          </a:prstGeom>
          <a:solidFill>
            <a:srgbClr val="DCE6E1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23591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depth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869680" y="2386584"/>
            <a:ext cx="310896" cy="182880"/>
          </a:xfrm>
          <a:prstGeom prst="roundRect">
            <a:avLst>
              <a:gd name="adj" fmla="val 15000"/>
            </a:avLst>
          </a:prstGeom>
          <a:solidFill>
            <a:srgbClr val="1B4D3E"/>
          </a:solidFill>
          <a:ln/>
        </p:spPr>
      </p:sp>
      <p:sp>
        <p:nvSpPr>
          <p:cNvPr id="35" name="Shape 33"/>
          <p:cNvSpPr/>
          <p:nvPr/>
        </p:nvSpPr>
        <p:spPr>
          <a:xfrm>
            <a:off x="9253728" y="2386584"/>
            <a:ext cx="310896" cy="182880"/>
          </a:xfrm>
          <a:prstGeom prst="roundRect">
            <a:avLst>
              <a:gd name="adj" fmla="val 15000"/>
            </a:avLst>
          </a:prstGeom>
          <a:solidFill>
            <a:srgbClr val="1B4D3E"/>
          </a:solidFill>
          <a:ln/>
        </p:spPr>
      </p:sp>
      <p:sp>
        <p:nvSpPr>
          <p:cNvPr id="36" name="Shape 34"/>
          <p:cNvSpPr/>
          <p:nvPr/>
        </p:nvSpPr>
        <p:spPr>
          <a:xfrm>
            <a:off x="9637776" y="2386584"/>
            <a:ext cx="310896" cy="182880"/>
          </a:xfrm>
          <a:prstGeom prst="roundRect">
            <a:avLst>
              <a:gd name="adj" fmla="val 15000"/>
            </a:avLst>
          </a:prstGeom>
          <a:solidFill>
            <a:srgbClr val="1B4D3E"/>
          </a:solidFill>
          <a:ln/>
        </p:spPr>
      </p:sp>
      <p:sp>
        <p:nvSpPr>
          <p:cNvPr id="37" name="Shape 35"/>
          <p:cNvSpPr/>
          <p:nvPr/>
        </p:nvSpPr>
        <p:spPr>
          <a:xfrm>
            <a:off x="10021824" y="2386584"/>
            <a:ext cx="310896" cy="182880"/>
          </a:xfrm>
          <a:prstGeom prst="roundRect">
            <a:avLst>
              <a:gd name="adj" fmla="val 15000"/>
            </a:avLst>
          </a:prstGeom>
          <a:solidFill>
            <a:srgbClr val="1B4D3E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0" y="27066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value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869680" y="2734056"/>
            <a:ext cx="310896" cy="182880"/>
          </a:xfrm>
          <a:prstGeom prst="roundRect">
            <a:avLst>
              <a:gd name="adj" fmla="val 15000"/>
            </a:avLst>
          </a:prstGeom>
          <a:solidFill>
            <a:srgbClr val="1B4D3E"/>
          </a:solidFill>
          <a:ln/>
        </p:spPr>
      </p:sp>
      <p:sp>
        <p:nvSpPr>
          <p:cNvPr id="40" name="Shape 38"/>
          <p:cNvSpPr/>
          <p:nvPr/>
        </p:nvSpPr>
        <p:spPr>
          <a:xfrm>
            <a:off x="9253728" y="2734056"/>
            <a:ext cx="310896" cy="182880"/>
          </a:xfrm>
          <a:prstGeom prst="roundRect">
            <a:avLst>
              <a:gd name="adj" fmla="val 15000"/>
            </a:avLst>
          </a:prstGeom>
          <a:solidFill>
            <a:srgbClr val="1B4D3E"/>
          </a:solidFill>
          <a:ln/>
        </p:spPr>
      </p:sp>
      <p:sp>
        <p:nvSpPr>
          <p:cNvPr id="41" name="Shape 39"/>
          <p:cNvSpPr/>
          <p:nvPr/>
        </p:nvSpPr>
        <p:spPr>
          <a:xfrm>
            <a:off x="9637776" y="2734056"/>
            <a:ext cx="310896" cy="182880"/>
          </a:xfrm>
          <a:prstGeom prst="roundRect">
            <a:avLst>
              <a:gd name="adj" fmla="val 15000"/>
            </a:avLst>
          </a:prstGeom>
          <a:solidFill>
            <a:srgbClr val="1B4D3E"/>
          </a:solidFill>
          <a:ln/>
        </p:spPr>
      </p:sp>
      <p:sp>
        <p:nvSpPr>
          <p:cNvPr id="42" name="Shape 40"/>
          <p:cNvSpPr/>
          <p:nvPr/>
        </p:nvSpPr>
        <p:spPr>
          <a:xfrm>
            <a:off x="10021824" y="2734056"/>
            <a:ext cx="310896" cy="182880"/>
          </a:xfrm>
          <a:prstGeom prst="roundRect">
            <a:avLst>
              <a:gd name="adj" fmla="val 15000"/>
            </a:avLst>
          </a:prstGeom>
          <a:solidFill>
            <a:srgbClr val="DCE6E1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0" y="30540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applicability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869680" y="3081528"/>
            <a:ext cx="310896" cy="182880"/>
          </a:xfrm>
          <a:prstGeom prst="roundRect">
            <a:avLst>
              <a:gd name="adj" fmla="val 15000"/>
            </a:avLst>
          </a:prstGeom>
          <a:solidFill>
            <a:srgbClr val="1B4D3E"/>
          </a:solidFill>
          <a:ln/>
        </p:spPr>
      </p:sp>
      <p:sp>
        <p:nvSpPr>
          <p:cNvPr id="45" name="Shape 43"/>
          <p:cNvSpPr/>
          <p:nvPr/>
        </p:nvSpPr>
        <p:spPr>
          <a:xfrm>
            <a:off x="9253728" y="3081528"/>
            <a:ext cx="310896" cy="182880"/>
          </a:xfrm>
          <a:prstGeom prst="roundRect">
            <a:avLst>
              <a:gd name="adj" fmla="val 15000"/>
            </a:avLst>
          </a:prstGeom>
          <a:solidFill>
            <a:srgbClr val="1B4D3E"/>
          </a:solidFill>
          <a:ln/>
        </p:spPr>
      </p:sp>
      <p:sp>
        <p:nvSpPr>
          <p:cNvPr id="46" name="Shape 44"/>
          <p:cNvSpPr/>
          <p:nvPr/>
        </p:nvSpPr>
        <p:spPr>
          <a:xfrm>
            <a:off x="9637776" y="3081528"/>
            <a:ext cx="310896" cy="182880"/>
          </a:xfrm>
          <a:prstGeom prst="roundRect">
            <a:avLst>
              <a:gd name="adj" fmla="val 15000"/>
            </a:avLst>
          </a:prstGeom>
          <a:solidFill>
            <a:srgbClr val="1B4D3E"/>
          </a:solidFill>
          <a:ln/>
        </p:spPr>
      </p:sp>
      <p:sp>
        <p:nvSpPr>
          <p:cNvPr id="47" name="Shape 45"/>
          <p:cNvSpPr/>
          <p:nvPr/>
        </p:nvSpPr>
        <p:spPr>
          <a:xfrm>
            <a:off x="10021824" y="3081528"/>
            <a:ext cx="310896" cy="182880"/>
          </a:xfrm>
          <a:prstGeom prst="roundRect">
            <a:avLst>
              <a:gd name="adj" fmla="val 15000"/>
            </a:avLst>
          </a:prstGeom>
          <a:solidFill>
            <a:srgbClr val="DCE6E1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0" y="345643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dimension 0–4. Include needs ≥ 14/20 and evidence in the title or abstract. African authorship alone never qualifies — uncertain cases go to review, never to silent exclusion.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583680" y="4251960"/>
            <a:ext cx="5047488" cy="1920240"/>
          </a:xfrm>
          <a:prstGeom prst="roundRect">
            <a:avLst>
              <a:gd name="adj" fmla="val 4286"/>
            </a:avLst>
          </a:prstGeom>
          <a:solidFill>
            <a:srgbClr val="EFF4F1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0" y="438912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MUFASA DOMAINS, ONE GOLD BENCHMARK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58000" y="4681728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6931152" y="468172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375904" y="4681728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8449056" y="468172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893808" y="4681728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9966960" y="468172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858000" y="5138928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6931152" y="513892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375904" y="5138928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8449056" y="513892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9893808" y="5138928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9966960" y="513892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858000" y="5623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papers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10 from each of the 20 fields, sampled at several queue depths, every label human-reviewed and confirmed. Every classifier is scored on it first.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02 · MODEL ENGINEERING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tiny base model, trained to reason like a scientist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3520440" cy="1536192"/>
          </a:xfrm>
          <a:prstGeom prst="roundRect">
            <a:avLst>
              <a:gd name="adj" fmla="val 5357"/>
            </a:avLst>
          </a:prstGeom>
          <a:solidFill>
            <a:srgbClr val="F8FAF9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325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Nanbeige-3B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95528" y="16276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Thinking-tuned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95528" y="1920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multi-step maths and science for 3B. Our quality-per-megabyte leader.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34256" y="1188720"/>
            <a:ext cx="3520440" cy="1536192"/>
          </a:xfrm>
          <a:prstGeom prst="roundRect">
            <a:avLst>
              <a:gd name="adj" fmla="val 5357"/>
            </a:avLst>
          </a:prstGeom>
          <a:solidFill>
            <a:srgbClr val="0F2A22"/>
          </a:solidFill>
          <a:ln/>
        </p:spPr>
      </p:sp>
      <p:sp>
        <p:nvSpPr>
          <p:cNvPr id="9" name="Text 7"/>
          <p:cNvSpPr/>
          <p:nvPr/>
        </p:nvSpPr>
        <p:spPr>
          <a:xfrm>
            <a:off x="4562856" y="1325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Bonsai 8B · 1-bit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62856" y="16276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~1.2 GB on disk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62856" y="1920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in 1-bit from scratch, no high-precision escape layers. 8B behaviour, 2B footprint.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01584" y="1188720"/>
            <a:ext cx="3520440" cy="1536192"/>
          </a:xfrm>
          <a:prstGeom prst="roundRect">
            <a:avLst>
              <a:gd name="adj" fmla="val 5357"/>
            </a:avLst>
          </a:prstGeom>
          <a:solidFill>
            <a:srgbClr val="F8FAF9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0184" y="1325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Ternary Bonsai · 1.58-bit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30184" y="16276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{−1, 0, +1}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30184" y="1920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 more size for a real quality gain. Our fallback if 1-bit costs accuracy.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2926080"/>
            <a:ext cx="5486400" cy="3246120"/>
          </a:xfrm>
          <a:prstGeom prst="roundRect">
            <a:avLst>
              <a:gd name="adj" fmla="val 2535"/>
            </a:avLst>
          </a:prstGeom>
          <a:solidFill>
            <a:srgbClr val="F8FAF9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06324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SIZE DECIDES 50 OF THE 100 POINTS</a:t>
            </a:r>
            <a:endParaRPr lang="en-US" sz="10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85800" y="3337560"/>
          <a:ext cx="52120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841248" y="57150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and efficiency are both memory-bound. 1-bit buys 8B-class accuracy at a 2B-class cost. Estimates — to be replaced by profiler runs.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309360" y="2926080"/>
            <a:ext cx="5321808" cy="3246120"/>
          </a:xfrm>
          <a:prstGeom prst="roundRect">
            <a:avLst>
              <a:gd name="adj" fmla="val 2535"/>
            </a:avLst>
          </a:prstGeom>
          <a:solidFill>
            <a:srgbClr val="0F2A22"/>
          </a:solidFill>
          <a:ln/>
        </p:spPr>
      </p:sp>
      <p:sp>
        <p:nvSpPr>
          <p:cNvPr id="21" name="Text 18"/>
          <p:cNvSpPr/>
          <p:nvPr/>
        </p:nvSpPr>
        <p:spPr>
          <a:xfrm>
            <a:off x="6583680" y="30632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STACK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583680" y="3310128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0"/>
          <p:cNvSpPr/>
          <p:nvPr/>
        </p:nvSpPr>
        <p:spPr>
          <a:xfrm>
            <a:off x="658368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967728" y="328269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SFT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967728" y="35204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BF16 LoRA on evidence-grounded conversations: compare studies, calculate, name the limitation, cite the span, abstain.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720840" y="3602736"/>
            <a:ext cx="0" cy="310896"/>
          </a:xfrm>
          <a:prstGeom prst="line">
            <a:avLst/>
          </a:prstGeom>
          <a:noFill/>
          <a:ln w="25400">
            <a:solidFill>
              <a:srgbClr val="1A3B3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583680" y="3950208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5"/>
          <p:cNvSpPr/>
          <p:nvPr/>
        </p:nvSpPr>
        <p:spPr>
          <a:xfrm>
            <a:off x="6583680" y="3950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967728" y="392277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· DPO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967728" y="41605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preference pairs, human-adjudicated. The rejected answer is plausible — overgeneralised, or missing uncertainty.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720840" y="4242816"/>
            <a:ext cx="0" cy="310896"/>
          </a:xfrm>
          <a:prstGeom prst="line">
            <a:avLst/>
          </a:prstGeom>
          <a:noFill/>
          <a:ln w="25400">
            <a:solidFill>
              <a:srgbClr val="1A3B3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83680" y="4590288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3" name="Text 30"/>
          <p:cNvSpPr/>
          <p:nvPr/>
        </p:nvSpPr>
        <p:spPr>
          <a:xfrm>
            <a:off x="6583680" y="4590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967728" y="456285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Reasoning-style training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6967728" y="48006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thinks, not only what it says: short traceable chains, units carried through, uncertainty stated.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6720840" y="4882896"/>
            <a:ext cx="0" cy="310896"/>
          </a:xfrm>
          <a:prstGeom prst="line">
            <a:avLst/>
          </a:prstGeom>
          <a:noFill/>
          <a:ln w="25400">
            <a:solidFill>
              <a:srgbClr val="1A3B31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583680" y="5230368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8" name="Text 35"/>
          <p:cNvSpPr/>
          <p:nvPr/>
        </p:nvSpPr>
        <p:spPr>
          <a:xfrm>
            <a:off x="6583680" y="5230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6967728" y="520293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 &amp; package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6967728" y="54406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GGUF with pinned chat template, stop tokens and decoding defaults — hashed.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583680" y="570585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Gates: SFT must beat the untouched base. DPO must improve preferences without factual loss. The quantized build must pass the same frozen benchmark — not merely load.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03 · RETRIEVAL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GraphRAG — the answer is never in one passage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5989320" cy="2926080"/>
          </a:xfrm>
          <a:prstGeom prst="roundRect">
            <a:avLst>
              <a:gd name="adj" fmla="val 2813"/>
            </a:avLst>
          </a:prstGeom>
          <a:solidFill>
            <a:srgbClr val="0F2A22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3350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IS A NODE, NOT AN EDGE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169164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1A3B31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" y="169164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269748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1A3B31"/>
          </a:solidFill>
          <a:ln/>
        </p:spPr>
      </p:sp>
      <p:sp>
        <p:nvSpPr>
          <p:cNvPr id="9" name="Text 7"/>
          <p:cNvSpPr/>
          <p:nvPr/>
        </p:nvSpPr>
        <p:spPr>
          <a:xfrm>
            <a:off x="941832" y="269748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97480" y="219456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2770632" y="2194560"/>
            <a:ext cx="1453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69164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C75B39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69164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span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269748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C75B39"/>
          </a:solidFill>
          <a:ln/>
        </p:spPr>
      </p:sp>
      <p:sp>
        <p:nvSpPr>
          <p:cNvPr id="15" name="Text 13"/>
          <p:cNvSpPr/>
          <p:nvPr/>
        </p:nvSpPr>
        <p:spPr>
          <a:xfrm>
            <a:off x="4828032" y="269748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+ page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40280" y="1920240"/>
            <a:ext cx="457200" cy="548640"/>
          </a:xfrm>
          <a:prstGeom prst="line">
            <a:avLst/>
          </a:prstGeom>
          <a:noFill/>
          <a:ln w="19050">
            <a:solidFill>
              <a:srgbClr val="8FA7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2240280" y="2468880"/>
            <a:ext cx="457200" cy="457200"/>
          </a:xfrm>
          <a:prstGeom prst="line">
            <a:avLst/>
          </a:prstGeom>
          <a:noFill/>
          <a:ln w="19050">
            <a:solidFill>
              <a:srgbClr val="8FA7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4297680" y="1920240"/>
            <a:ext cx="457200" cy="54864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32120" y="2148840"/>
            <a:ext cx="0" cy="54864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84832" y="30175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· unit · baseline · conditions · uncertainty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68680" y="3310128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the graph produces citations automatically — every observation reaches a paper through a quoted span. One experiment is one study family, however often it was published.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4297680"/>
            <a:ext cx="5989320" cy="1874520"/>
          </a:xfrm>
          <a:prstGeom prst="roundRect">
            <a:avLst>
              <a:gd name="adj" fmla="val 4390"/>
            </a:avLst>
          </a:prstGeom>
          <a:solidFill>
            <a:srgbClr val="F8FAF9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44398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 INSTEAD OF PDFS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31720" y="4773168"/>
            <a:ext cx="3931920" cy="384048"/>
          </a:xfrm>
          <a:prstGeom prst="roundRect">
            <a:avLst>
              <a:gd name="adj" fmla="val 11905"/>
            </a:avLst>
          </a:prstGeom>
          <a:solidFill>
            <a:srgbClr val="DCE6E1"/>
          </a:solidFill>
          <a:ln/>
        </p:spPr>
      </p:sp>
      <p:sp>
        <p:nvSpPr>
          <p:cNvPr id="25" name="Text 23"/>
          <p:cNvSpPr/>
          <p:nvPr/>
        </p:nvSpPr>
        <p:spPr>
          <a:xfrm>
            <a:off x="2423160" y="47914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· ~9 GB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331720" y="5285232"/>
            <a:ext cx="320040" cy="384048"/>
          </a:xfrm>
          <a:prstGeom prst="roundRect">
            <a:avLst>
              <a:gd name="adj" fmla="val 14286"/>
            </a:avLst>
          </a:prstGeom>
          <a:solidFill>
            <a:srgbClr val="1B4D3E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0" y="5303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Quoted spans · ~60 MB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68680" y="4983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 papers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" y="57424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to open on an i5, and no redistribution risk.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12280" y="1188720"/>
            <a:ext cx="4818888" cy="3246120"/>
          </a:xfrm>
          <a:prstGeom prst="roundRect">
            <a:avLst>
              <a:gd name="adj" fmla="val 2535"/>
            </a:avLst>
          </a:prstGeom>
          <a:solidFill>
            <a:srgbClr val="F8FAF9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133502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QUESTION ARRIVES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86600" y="1664208"/>
            <a:ext cx="274320" cy="274320"/>
          </a:xfrm>
          <a:prstGeom prst="ellipse">
            <a:avLst/>
          </a:prstGeom>
          <a:solidFill>
            <a:srgbClr val="1B4D3E"/>
          </a:solidFill>
          <a:ln/>
        </p:spPr>
      </p:sp>
      <p:sp>
        <p:nvSpPr>
          <p:cNvPr id="33" name="Text 31"/>
          <p:cNvSpPr/>
          <p:nvPr/>
        </p:nvSpPr>
        <p:spPr>
          <a:xfrm>
            <a:off x="708660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79792" y="16367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from rules + alias list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79792" y="18836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onugbu = ewuro = bitter leaf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086600" y="2212848"/>
            <a:ext cx="274320" cy="274320"/>
          </a:xfrm>
          <a:prstGeom prst="ellipse">
            <a:avLst/>
          </a:prstGeom>
          <a:solidFill>
            <a:srgbClr val="1B4D3E"/>
          </a:solidFill>
          <a:ln/>
        </p:spPr>
      </p:sp>
      <p:sp>
        <p:nvSpPr>
          <p:cNvPr id="37" name="Text 35"/>
          <p:cNvSpPr/>
          <p:nvPr/>
        </p:nvSpPr>
        <p:spPr>
          <a:xfrm>
            <a:off x="7086600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479792" y="21854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and vectors in parallel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79792" y="24323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vectors fail, graph still answers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086600" y="2761488"/>
            <a:ext cx="274320" cy="274320"/>
          </a:xfrm>
          <a:prstGeom prst="ellipse">
            <a:avLst/>
          </a:prstGeom>
          <a:solidFill>
            <a:srgbClr val="1B4D3E"/>
          </a:solidFill>
          <a:ln/>
        </p:spPr>
      </p:sp>
      <p:sp>
        <p:nvSpPr>
          <p:cNvPr id="41" name="Text 39"/>
          <p:cNvSpPr/>
          <p:nvPr/>
        </p:nvSpPr>
        <p:spPr>
          <a:xfrm>
            <a:off x="708660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479792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hop through the graph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479792" y="298094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drifts, and it overheats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086600" y="3310128"/>
            <a:ext cx="274320" cy="274320"/>
          </a:xfrm>
          <a:prstGeom prst="ellipse">
            <a:avLst/>
          </a:prstGeom>
          <a:solidFill>
            <a:srgbClr val="1B4D3E"/>
          </a:solidFill>
          <a:ln/>
        </p:spPr>
      </p:sp>
      <p:sp>
        <p:nvSpPr>
          <p:cNvPr id="45" name="Text 43"/>
          <p:cNvSpPr/>
          <p:nvPr/>
        </p:nvSpPr>
        <p:spPr>
          <a:xfrm>
            <a:off x="708660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479792" y="32826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6–10 observations to the model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479792" y="35295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~1,200 tokens, tagged [E1]…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086600" y="3858768"/>
            <a:ext cx="274320" cy="274320"/>
          </a:xfrm>
          <a:prstGeom prst="ellipse">
            <a:avLst/>
          </a:prstGeom>
          <a:solidFill>
            <a:srgbClr val="1B4D3E"/>
          </a:solidFill>
          <a:ln/>
        </p:spPr>
      </p:sp>
      <p:sp>
        <p:nvSpPr>
          <p:cNvPr id="49" name="Text 47"/>
          <p:cNvSpPr/>
          <p:nvPr/>
        </p:nvSpPr>
        <p:spPr>
          <a:xfrm>
            <a:off x="7086600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479792" y="38313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every number and tag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79792" y="4078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invented [E9] fails instantly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812280" y="4617720"/>
            <a:ext cx="4818888" cy="1554480"/>
          </a:xfrm>
          <a:prstGeom prst="roundRect">
            <a:avLst>
              <a:gd name="adj" fmla="val 5294"/>
            </a:avLst>
          </a:prstGeom>
          <a:solidFill>
            <a:srgbClr val="0F2A22"/>
          </a:solidFill>
          <a:ln/>
        </p:spPr>
      </p:sp>
      <p:sp>
        <p:nvSpPr>
          <p:cNvPr id="53" name="Text 51"/>
          <p:cNvSpPr/>
          <p:nvPr/>
        </p:nvSpPr>
        <p:spPr>
          <a:xfrm>
            <a:off x="7086600" y="475488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JUDGES WILL REMEMBER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086600" y="504748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matrix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086600" y="52852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observations, three agree — the outlier differs only in ash burning temperature.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086600" y="55778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never novelty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086600" y="58155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verified evidence in corpus v1" is defensible. "Nobody has studied this" is not.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04 · APPLICATION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 owns the machine, not just the screen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6766560" cy="2834640"/>
          </a:xfrm>
          <a:prstGeom prst="roundRect">
            <a:avLst>
              <a:gd name="adj" fmla="val 2903"/>
            </a:avLst>
          </a:prstGeom>
          <a:solidFill>
            <a:srgbClr val="0F2A22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335024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COMPUTE STAYS ON THE LAPTOP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1664208"/>
            <a:ext cx="3977640" cy="2103120"/>
          </a:xfrm>
          <a:prstGeom prst="roundRect">
            <a:avLst>
              <a:gd name="adj" fmla="val 3478"/>
            </a:avLst>
          </a:prstGeom>
          <a:solidFill>
            <a:srgbClr val="1A3B31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7830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51560" y="2048256"/>
            <a:ext cx="3611880" cy="292608"/>
          </a:xfrm>
          <a:prstGeom prst="roundRect">
            <a:avLst>
              <a:gd name="adj" fmla="val 18750"/>
            </a:avLst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1124712" y="2048256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Tauri desktop shell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51560" y="2395728"/>
            <a:ext cx="3611880" cy="292608"/>
          </a:xfrm>
          <a:prstGeom prst="roundRect">
            <a:avLst>
              <a:gd name="adj" fmla="val 18750"/>
            </a:avLst>
          </a:prstGeom>
          <a:solidFill>
            <a:srgbClr val="0F2A22"/>
          </a:solidFill>
          <a:ln/>
        </p:spPr>
      </p:sp>
      <p:sp>
        <p:nvSpPr>
          <p:cNvPr id="11" name="Text 9"/>
          <p:cNvSpPr/>
          <p:nvPr/>
        </p:nvSpPr>
        <p:spPr>
          <a:xfrm>
            <a:off x="1124712" y="2395728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orchestrator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51560" y="2743200"/>
            <a:ext cx="3611880" cy="292608"/>
          </a:xfrm>
          <a:prstGeom prst="roundRect">
            <a:avLst>
              <a:gd name="adj" fmla="val 18750"/>
            </a:avLst>
          </a:prstGeom>
          <a:solidFill>
            <a:srgbClr val="1B4D3E"/>
          </a:solidFill>
          <a:ln/>
        </p:spPr>
      </p:sp>
      <p:sp>
        <p:nvSpPr>
          <p:cNvPr id="13" name="Text 11"/>
          <p:cNvSpPr/>
          <p:nvPr/>
        </p:nvSpPr>
        <p:spPr>
          <a:xfrm>
            <a:off x="1124712" y="2743200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· GGUF  — the judged path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51560" y="3090672"/>
            <a:ext cx="3611880" cy="292608"/>
          </a:xfrm>
          <a:prstGeom prst="roundRect">
            <a:avLst>
              <a:gd name="adj" fmla="val 18750"/>
            </a:avLst>
          </a:prstGeom>
          <a:solidFill>
            <a:srgbClr val="0F2A22"/>
          </a:solidFill>
          <a:ln/>
        </p:spPr>
      </p:sp>
      <p:sp>
        <p:nvSpPr>
          <p:cNvPr id="15" name="Text 13"/>
          <p:cNvSpPr/>
          <p:nvPr/>
        </p:nvSpPr>
        <p:spPr>
          <a:xfrm>
            <a:off x="1124712" y="3090672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Colibri / AirLLM — offload lane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51560" y="3438144"/>
            <a:ext cx="3611880" cy="292608"/>
          </a:xfrm>
          <a:prstGeom prst="roundRect">
            <a:avLst>
              <a:gd name="adj" fmla="val 18750"/>
            </a:avLst>
          </a:prstGeom>
          <a:solidFill>
            <a:srgbClr val="0F2A22"/>
          </a:solidFill>
          <a:ln/>
        </p:spPr>
      </p:sp>
      <p:sp>
        <p:nvSpPr>
          <p:cNvPr id="17" name="Text 15"/>
          <p:cNvSpPr/>
          <p:nvPr/>
        </p:nvSpPr>
        <p:spPr>
          <a:xfrm>
            <a:off x="1124712" y="3438144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LadybugDB · the evidence graph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06440" y="1965960"/>
            <a:ext cx="1188720" cy="1600200"/>
          </a:xfrm>
          <a:prstGeom prst="roundRect">
            <a:avLst>
              <a:gd name="adj" fmla="val 6154"/>
            </a:avLst>
          </a:prstGeom>
          <a:solidFill>
            <a:srgbClr val="1A3B31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23774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83480" y="2395728"/>
            <a:ext cx="685800" cy="16459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1" name="Shape 19"/>
          <p:cNvSpPr/>
          <p:nvPr/>
        </p:nvSpPr>
        <p:spPr>
          <a:xfrm>
            <a:off x="4983480" y="2788920"/>
            <a:ext cx="685800" cy="164592"/>
          </a:xfrm>
          <a:prstGeom prst="leftArrow">
            <a:avLst/>
          </a:prstGeom>
          <a:solidFill>
            <a:srgbClr val="6E8F7E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15798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92040" y="298094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68680" y="41148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weights, database, graph or corpus ever leave the laptop. One generation at a time across both clients, so peak memory stays predictable — and the offload lane only ships if it holds under the ceiling and the thermal budget.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589520" y="1188720"/>
            <a:ext cx="4041648" cy="3154680"/>
          </a:xfrm>
          <a:prstGeom prst="roundRect">
            <a:avLst>
              <a:gd name="adj" fmla="val 2609"/>
            </a:avLst>
          </a:prstGeom>
          <a:solidFill>
            <a:srgbClr val="F8FAF9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13350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VIEWS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863840" y="1682496"/>
            <a:ext cx="292608" cy="292608"/>
          </a:xfrm>
          <a:prstGeom prst="ellipse">
            <a:avLst/>
          </a:prstGeom>
          <a:solidFill>
            <a:srgbClr val="1B4D3E"/>
          </a:solidFill>
          <a:ln/>
        </p:spPr>
      </p:sp>
      <p:sp>
        <p:nvSpPr>
          <p:cNvPr id="28" name="Text 26"/>
          <p:cNvSpPr/>
          <p:nvPr/>
        </p:nvSpPr>
        <p:spPr>
          <a:xfrm>
            <a:off x="7863840" y="1682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75320" y="16642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&amp; Evidence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75320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claim, read the quoted sentence and its page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863840" y="2414016"/>
            <a:ext cx="292608" cy="292608"/>
          </a:xfrm>
          <a:prstGeom prst="ellipse">
            <a:avLst/>
          </a:prstGeom>
          <a:solidFill>
            <a:srgbClr val="1B4D3E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0" y="2414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75320" y="23957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Studies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75320" y="26334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study family, plus the disagreement matrix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863840" y="3145536"/>
            <a:ext cx="292608" cy="292608"/>
          </a:xfrm>
          <a:prstGeom prst="ellipse">
            <a:avLst/>
          </a:prstGeom>
          <a:solidFill>
            <a:srgbClr val="1B4D3E"/>
          </a:solidFill>
          <a:ln/>
        </p:spPr>
      </p:sp>
      <p:sp>
        <p:nvSpPr>
          <p:cNvPr id="36" name="Text 34"/>
          <p:cNvSpPr/>
          <p:nvPr/>
        </p:nvSpPr>
        <p:spPr>
          <a:xfrm>
            <a:off x="7863840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75320" y="31272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&amp; Sources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275320" y="33649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corpus holds — and what it does not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863840" y="37764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route: medical, structural and industrial questions return an evidence summary with limitations — never a prescription.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6928" y="48006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8FAF9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5528" y="49377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layer · two lanes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" y="5212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+ GGUF is mandated and profiled. Colibri (pure C, streams MoE experts from disk) and AirLLM (layer-by-layer loading) are our offload lane — more model per gigabyte, paid for in latency.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334256" y="48006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EFF4F1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62856" y="49377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on everything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62856" y="5212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output, threads and the graph buffer. Queries at full tilt while the model decodes will overheat the laptop, and throttling costs 10 marks.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101584" y="48006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8FAF9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30184" y="49377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before display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330184" y="5212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token streaming — we show real progress instead, then one checked answer. Cancel frees memory; feedback stays on the laptop.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EAGLETEAM · NEXT 23 DAYS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layer aims at a named part of the score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80160"/>
            <a:ext cx="5532120" cy="73152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28016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50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9048" y="1280160"/>
            <a:ext cx="3319272" cy="7315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6099048" y="1280160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30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418320" y="1280160"/>
            <a:ext cx="2212848" cy="73152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9" name="Text 7"/>
          <p:cNvSpPr/>
          <p:nvPr/>
        </p:nvSpPr>
        <p:spPr>
          <a:xfrm>
            <a:off x="9418320" y="1280160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 20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84832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01 + 02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9048" y="208483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418320" y="208483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02 + 03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4688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1A3B31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26060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8096" y="29260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150k+ paper pool, evidence-grounded SFT, DPO on adjudicated pairs, reasoning-style training.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19856" y="24688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1A3B31"/>
          </a:solidFill>
          <a:ln/>
        </p:spPr>
      </p:sp>
      <p:sp>
        <p:nvSpPr>
          <p:cNvPr id="17" name="Text 15"/>
          <p:cNvSpPr/>
          <p:nvPr/>
        </p:nvSpPr>
        <p:spPr>
          <a:xfrm>
            <a:off x="3621024" y="26060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21024" y="29260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3B thinking model or a 1-bit 8B. Short answers by default; pinned decoding settings.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72784" y="24688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1A3B31"/>
          </a:solidFill>
          <a:ln/>
        </p:spPr>
      </p:sp>
      <p:sp>
        <p:nvSpPr>
          <p:cNvPr id="20" name="Text 18"/>
          <p:cNvSpPr/>
          <p:nvPr/>
        </p:nvSpPr>
        <p:spPr>
          <a:xfrm>
            <a:off x="6473952" y="26060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73952" y="29260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~1.2 GB of weights against 7 GB; retrieval budgeted under 400 MB; thread caps to stay cool.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25712" y="24688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1A3B31"/>
          </a:solidFill>
          <a:ln/>
        </p:spPr>
      </p:sp>
      <p:sp>
        <p:nvSpPr>
          <p:cNvPr id="23" name="Text 21"/>
          <p:cNvSpPr/>
          <p:nvPr/>
        </p:nvSpPr>
        <p:spPr>
          <a:xfrm>
            <a:off x="9326880" y="26060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26880" y="29260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Load-bearing GraphRAG, an African-language path worth +15%, and a live-defence story.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6928" y="41605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MUST NOT SLIP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" y="4535424"/>
            <a:ext cx="201168" cy="201168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49884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Ladybug offline spike  </a:t>
            </a:r>
            <a:pPr indent="0" marL="0">
              <a:buNone/>
            </a:pPr>
            <a:r>
              <a:rPr lang="en-US" sz="115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the version, bundle the extensions, kill networking, cap the buffer, measure. Day one — never cut.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3504" y="4992624"/>
            <a:ext cx="201168" cy="201168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95604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Rights-check the 6,000-paper graph corpus  </a:t>
            </a:r>
            <a:pPr indent="0" marL="0">
              <a:buNone/>
            </a:pPr>
            <a:r>
              <a:rPr lang="en-US" sz="115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acquire, parse and extract while training runs in parallel.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03504" y="5449824"/>
            <a:ext cx="201168" cy="201168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41324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model in week one  </a:t>
            </a:r>
            <a:pPr indent="0" marL="0">
              <a:buNone/>
            </a:pPr>
            <a:r>
              <a:rPr lang="en-US" sz="115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template, stop tokens, reproducible llama.cpp settings — not on the last day.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03504" y="5907024"/>
            <a:ext cx="201168" cy="201168"/>
          </a:xfrm>
          <a:prstGeom prst="ellipse">
            <a:avLst/>
          </a:prstGeom>
          <a:solidFill>
            <a:srgbClr val="C75B39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587044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Measure, then claim  </a:t>
            </a:r>
            <a:pPr indent="0" marL="0">
              <a:buNone/>
            </a:pPr>
            <a:r>
              <a:rPr lang="en-US" sz="1150" dirty="0">
                <a:solidFill>
                  <a:srgbClr val="CBD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estimate in this deck is replaced by an ADTC profiler run before REPORT.md.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6263640"/>
            <a:ext cx="11064240" cy="411480"/>
          </a:xfrm>
          <a:prstGeom prst="roundRect">
            <a:avLst>
              <a:gd name="adj" fmla="val 20000"/>
            </a:avLst>
          </a:prstGeom>
          <a:solidFill>
            <a:srgbClr val="1A3B31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62636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Math &amp; Scientific Reasoning   ·   Integration: offline GraphRAG over African scientific evidence   ·   Gate 1: 25 August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MUFASA - ADTC 2026 Team Briefing</dc:title>
  <dc:subject>PptxGenJS Presentation</dc:subject>
  <dc:creator>EagleTeam</dc:creator>
  <cp:lastModifiedBy>EagleTeam</cp:lastModifiedBy>
  <cp:revision>1</cp:revision>
  <dcterms:created xsi:type="dcterms:W3CDTF">2026-08-03T05:20:32Z</dcterms:created>
  <dcterms:modified xsi:type="dcterms:W3CDTF">2026-08-03T05:20:32Z</dcterms:modified>
</cp:coreProperties>
</file>